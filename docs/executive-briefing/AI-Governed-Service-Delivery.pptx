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0E1C"/>
              </a:gs>
              <a:gs pos="100000">
                <a:srgbClr val="101B3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100584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14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49640" y="1417320"/>
            <a:ext cx="2834640" cy="2834640"/>
          </a:xfrm>
          <a:prstGeom prst="roundRect">
            <a:avLst>
              <a:gd name="adj" fmla="val 50000"/>
            </a:avLst>
          </a:prstGeom>
          <a:solidFill>
            <a:srgbClr val="18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0" y="1920240"/>
            <a:ext cx="1828800" cy="1828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B5CF6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2487168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spc="220">
                <a:solidFill>
                  <a:srgbClr val="22D3EE"/>
                </a:solidFill>
                <a:latin typeface="Segoe UI"/>
              </a:rPr>
              <a:t>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AI-Governed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Service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1371600" cy="41148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224528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9AACC8"/>
                </a:solidFill>
                <a:latin typeface="Segoe UI"/>
              </a:rPr>
              <a:t>From ticket intake to compliant release — autonomous where it is safe, human-approved where it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5780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ServiceNow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9696" y="52578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3B82F6"/>
                </a:solidFill>
                <a:latin typeface="Segoe UI"/>
              </a:rPr>
              <a:t>Jira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36392" y="52578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8B5CF6"/>
                </a:solidFill>
                <a:latin typeface="Segoe UI"/>
              </a:rPr>
              <a:t>Amazon Bedrock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4608" y="52578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2DD4BF"/>
                </a:solidFill>
                <a:latin typeface="Segoe UI"/>
              </a:rPr>
              <a:t>Devin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525780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F59E0B"/>
                </a:solidFill>
                <a:latin typeface="Segoe UI"/>
              </a:rPr>
              <a:t>Harness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446520"/>
            <a:ext cx="11183112" cy="10972"/>
          </a:xfrm>
          <a:prstGeom prst="roundRect">
            <a:avLst>
              <a:gd name="adj" fmla="val 5000"/>
            </a:avLst>
          </a:prstGeom>
          <a:solidFill>
            <a:srgbClr val="1E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Koniag · AI service delivery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510528"/>
            <a:ext cx="3456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Human in the loop at every 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0E1C"/>
              </a:gs>
              <a:gs pos="100000">
                <a:srgbClr val="101B3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0292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846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spc="160">
                <a:solidFill>
                  <a:srgbClr val="22D3EE"/>
                </a:solidFill>
                <a:latin typeface="Segoe UI"/>
              </a:rPr>
              <a:t>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Five stages, one governed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AACC8"/>
                </a:solidFill>
                <a:latin typeface="Segoe UI"/>
              </a:rPr>
              <a:t>Bedrock qualifies the work · Devin does the work · Harness proves it is safe · a person approves the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157984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157984" cy="502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0391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98548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80E1C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66543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spc="100">
                <a:solidFill>
                  <a:srgbClr val="FFFFFF"/>
                </a:solidFill>
                <a:latin typeface="Segoe UI"/>
              </a:rPr>
              <a:t>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59736"/>
            <a:ext cx="1792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3B82F6"/>
                </a:solidFill>
                <a:latin typeface="Segoe UI"/>
              </a:rPr>
              <a:t>ServiceNow  ·  Jira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52344"/>
            <a:ext cx="1792224" cy="9144"/>
          </a:xfrm>
          <a:prstGeom prst="roundRect">
            <a:avLst>
              <a:gd name="adj" fmla="val 5000"/>
            </a:avLst>
          </a:prstGeom>
          <a:solidFill>
            <a:srgbClr val="25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022092"/>
            <a:ext cx="50292" cy="502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953512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One front door for every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52444"/>
            <a:ext cx="50292" cy="502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483864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Normalized to a common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82796"/>
            <a:ext cx="50292" cy="502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014215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“Ready for AI” fires the pipeline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2665476" y="2112264"/>
            <a:ext cx="201168" cy="201168"/>
          </a:xfrm>
          <a:prstGeom prst="triangl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84348" y="1783080"/>
            <a:ext cx="2157984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84348" y="1783080"/>
            <a:ext cx="2157984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67228" y="20391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7228" y="2098548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80E1C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276" y="2066543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spc="100">
                <a:solidFill>
                  <a:srgbClr val="FFFFFF"/>
                </a:solidFill>
                <a:latin typeface="Segoe UI"/>
              </a:rPr>
              <a:t>QUALIFY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7228" y="2459736"/>
            <a:ext cx="1792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8B5CF6"/>
                </a:solidFill>
                <a:latin typeface="Segoe UI"/>
              </a:rPr>
              <a:t>Amazon Bedrock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67228" y="2752344"/>
            <a:ext cx="1792224" cy="9144"/>
          </a:xfrm>
          <a:prstGeom prst="roundRect">
            <a:avLst>
              <a:gd name="adj" fmla="val 5000"/>
            </a:avLst>
          </a:prstGeom>
          <a:solidFill>
            <a:srgbClr val="25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67228" y="3022092"/>
            <a:ext cx="50292" cy="502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3532" y="2953512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Links repeats to the open parent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67228" y="3552444"/>
            <a:ext cx="50292" cy="502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3532" y="3483864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Scores completeness and detail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67228" y="4082796"/>
            <a:ext cx="50292" cy="502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13532" y="4014215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Rates risk and AI eligibility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4946903" y="2112264"/>
            <a:ext cx="201168" cy="201168"/>
          </a:xfrm>
          <a:prstGeom prst="triangl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65776" y="1783080"/>
            <a:ext cx="2157984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65776" y="1783080"/>
            <a:ext cx="2157984" cy="502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248656" y="20391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48656" y="2098548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80E1C"/>
                </a:solidFill>
                <a:latin typeface="Sego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32704" y="2066543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spc="100">
                <a:solidFill>
                  <a:srgbClr val="FFFFFF"/>
                </a:solidFill>
                <a:latin typeface="Segoe UI"/>
              </a:rPr>
              <a:t>RESOLVE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48656" y="2459736"/>
            <a:ext cx="1792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DD4BF"/>
                </a:solidFill>
                <a:latin typeface="Segoe UI"/>
              </a:rPr>
              <a:t>Devin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48656" y="2752344"/>
            <a:ext cx="1792224" cy="9144"/>
          </a:xfrm>
          <a:prstGeom prst="roundRect">
            <a:avLst>
              <a:gd name="adj" fmla="val 5000"/>
            </a:avLst>
          </a:prstGeom>
          <a:solidFill>
            <a:srgbClr val="25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48656" y="3022092"/>
            <a:ext cx="50292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2953512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Automations start work instantly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48656" y="3552444"/>
            <a:ext cx="50292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0" y="3483864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Playbooks make fixes repeatable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48656" y="4082796"/>
            <a:ext cx="50292" cy="50292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0" y="4014215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Ships a tested pull request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7228332" y="2112264"/>
            <a:ext cx="201168" cy="201168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47204" y="1783080"/>
            <a:ext cx="2157984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47204" y="1783080"/>
            <a:ext cx="2157984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530083" y="20391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30083" y="2098548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80E1C"/>
                </a:solidFill>
                <a:latin typeface="Segoe U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14131" y="2066543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spc="100">
                <a:solidFill>
                  <a:srgbClr val="FFFFFF"/>
                </a:solidFill>
                <a:latin typeface="Segoe UI"/>
              </a:rPr>
              <a:t>PROVE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0083" y="2459736"/>
            <a:ext cx="1792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Harness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30083" y="2752344"/>
            <a:ext cx="1792224" cy="9144"/>
          </a:xfrm>
          <a:prstGeom prst="roundRect">
            <a:avLst>
              <a:gd name="adj" fmla="val 5000"/>
            </a:avLst>
          </a:prstGeom>
          <a:solidFill>
            <a:srgbClr val="25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530083" y="3022092"/>
            <a:ext cx="50292" cy="502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76388" y="2953512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SAST, dependency, IaC policy scans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30083" y="3552444"/>
            <a:ext cx="50292" cy="502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76388" y="3483864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Named human approves release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30083" y="4082796"/>
            <a:ext cx="50292" cy="502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76388" y="4014215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Every promotion logged for audit</a:t>
            </a:r>
          </a:p>
        </p:txBody>
      </p:sp>
      <p:sp>
        <p:nvSpPr>
          <p:cNvPr id="62" name="Isosceles Triangle 61"/>
          <p:cNvSpPr/>
          <p:nvPr/>
        </p:nvSpPr>
        <p:spPr>
          <a:xfrm rot="5400000">
            <a:off x="9509760" y="2112264"/>
            <a:ext cx="201168" cy="201168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628632" y="1783080"/>
            <a:ext cx="2157984" cy="27889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28632" y="1783080"/>
            <a:ext cx="2157984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811512" y="20391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11512" y="2098548"/>
            <a:ext cx="3108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80E1C"/>
                </a:solidFill>
                <a:latin typeface="Sego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95560" y="2066543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spc="100">
                <a:solidFill>
                  <a:srgbClr val="FFFFFF"/>
                </a:solidFill>
                <a:latin typeface="Segoe UI"/>
              </a:rPr>
              <a:t>COMPOUND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11512" y="2459736"/>
            <a:ext cx="1792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Back to the ticket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11512" y="2752344"/>
            <a:ext cx="1792224" cy="9144"/>
          </a:xfrm>
          <a:prstGeom prst="roundRect">
            <a:avLst>
              <a:gd name="adj" fmla="val 5000"/>
            </a:avLst>
          </a:prstGeom>
          <a:solidFill>
            <a:srgbClr val="253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811512" y="3022092"/>
            <a:ext cx="50292" cy="502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57816" y="2953512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Resolution written to the ticket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11512" y="3552444"/>
            <a:ext cx="50292" cy="502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57816" y="3483864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Fixes become playbooks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11512" y="4082796"/>
            <a:ext cx="50292" cy="5029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57816" y="4014215"/>
            <a:ext cx="16824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9AACC8"/>
                </a:solidFill>
                <a:latin typeface="Segoe UI"/>
              </a:rPr>
              <a:t>Autonomy measured per stage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spc="140">
                <a:solidFill>
                  <a:srgbClr val="22D3EE"/>
                </a:solidFill>
                <a:latin typeface="Segoe UI"/>
              </a:rPr>
              <a:t>RETURN PATHS THAT PROTECT THE PIPELINE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5120640"/>
            <a:ext cx="3675887" cy="402336"/>
          </a:xfrm>
          <a:prstGeom prst="roundRect">
            <a:avLst>
              <a:gd name="adj" fmla="val 35000"/>
            </a:avLst>
          </a:prstGeom>
          <a:solidFill>
            <a:srgbClr val="0F182E"/>
          </a:solidFill>
          <a:ln w="1143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950" b="1">
                <a:solidFill>
                  <a:srgbClr val="8B5CF6"/>
                </a:solidFill>
                <a:latin typeface="Segoe UI"/>
              </a:rPr>
              <a:t>↺  Duplicate or thin ticket → returned at the gate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70247" y="5120640"/>
            <a:ext cx="3675887" cy="402336"/>
          </a:xfrm>
          <a:prstGeom prst="roundRect">
            <a:avLst>
              <a:gd name="adj" fmla="val 35000"/>
            </a:avLst>
          </a:prstGeom>
          <a:solidFill>
            <a:srgbClr val="0F182E"/>
          </a:solidFill>
          <a:ln w="1143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950" b="1">
                <a:solidFill>
                  <a:srgbClr val="F59E0B"/>
                </a:solidFill>
                <a:latin typeface="Segoe UI"/>
              </a:rPr>
              <a:t>↺  Failed scan or review → Devin reworks the fix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37575" y="5120640"/>
            <a:ext cx="3675887" cy="402336"/>
          </a:xfrm>
          <a:prstGeom prst="roundRect">
            <a:avLst>
              <a:gd name="adj" fmla="val 35000"/>
            </a:avLst>
          </a:prstGeom>
          <a:solidFill>
            <a:srgbClr val="0F182E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950" b="1">
                <a:solidFill>
                  <a:srgbClr val="34D399"/>
                </a:solidFill>
                <a:latin typeface="Segoe UI"/>
              </a:rPr>
              <a:t>↺  Resolved outcomes → sharper playbooks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02920" y="5669280"/>
            <a:ext cx="11183112" cy="64008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62446"/>
              </a:gs>
              <a:gs pos="100000">
                <a:srgbClr val="0E183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" y="57790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140">
                <a:solidFill>
                  <a:srgbClr val="22D3EE"/>
                </a:solidFill>
                <a:latin typeface="Segoe UI"/>
              </a:rPr>
              <a:t>HUMAN CONTROL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140">
                <a:solidFill>
                  <a:srgbClr val="22D3EE"/>
                </a:solidFill>
                <a:latin typeface="Segoe UI"/>
              </a:rPr>
              <a:t>POINTS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017520" y="5888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172968" y="5815584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Intake owner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72968" y="6035040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business priority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736592" y="5888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92040" y="5815584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Triage thresholds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92040" y="6035040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tuned, not guessed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55664" y="5888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11112" y="5815584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Pull request review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11112" y="6035040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every change is read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174736" y="5888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30184" y="5815584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Harness approval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30184" y="6035040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release needs a person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893808" y="58887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49256" y="5815584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Audit trail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9256" y="6035040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ticket → PR → deploy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02920" y="6446520"/>
            <a:ext cx="11183112" cy="10972"/>
          </a:xfrm>
          <a:prstGeom prst="roundRect">
            <a:avLst>
              <a:gd name="adj" fmla="val 5000"/>
            </a:avLst>
          </a:prstGeom>
          <a:solidFill>
            <a:srgbClr val="1E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Architecture at a glance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600" y="6510528"/>
            <a:ext cx="3456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Human in the loop at every 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0E1C"/>
              </a:gs>
              <a:gs pos="100000">
                <a:srgbClr val="101B3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0292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846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spc="160">
                <a:solidFill>
                  <a:srgbClr val="8B5CF6"/>
                </a:solidFill>
                <a:latin typeface="Segoe UI"/>
              </a:rPr>
              <a:t>STAGE 2 · THE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No work starts until the ticket earns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AACC8"/>
                </a:solidFill>
                <a:latin typeface="Segoe UI"/>
              </a:rPr>
              <a:t>Amazon Bedrock evaluates every ticket before a single engineering cycle — human or AI — is spent.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644652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83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45720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8B5CF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8424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Is it new?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8600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9AACC8"/>
                </a:solidFill>
                <a:latin typeface="Segoe UI"/>
              </a:rPr>
              <a:t>Semantic comparison against ticket history clusters repeats and links them to the open parent.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0360"/>
            <a:ext cx="644652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83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45720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358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Is it complete?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375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9AACC8"/>
                </a:solidFill>
                <a:latin typeface="Segoe UI"/>
              </a:rPr>
              <a:t>Repro steps, logs, environment, affected system and scope are scored against a required-detail standard.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644652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83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45720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96511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8B5CF6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8736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Is it eligible?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38912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9AACC8"/>
                </a:solidFill>
                <a:latin typeface="Segoe UI"/>
              </a:rPr>
              <a:t>Category, blast radius and risk decide autonomous fix, assisted fix, or human-only.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828800"/>
            <a:ext cx="4416552" cy="315468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72548"/>
              </a:gs>
              <a:gs pos="100000">
                <a:srgbClr val="0E1830"/>
              </a:gs>
            </a:gsLst>
            <a:lin scaled="0" ang="16200000"/>
          </a:gradFill>
          <a:ln w="9525">
            <a:solidFill>
              <a:srgbClr val="283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0299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Gate outcomes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2450592"/>
            <a:ext cx="3867912" cy="658368"/>
          </a:xfrm>
          <a:prstGeom prst="roundRect">
            <a:avLst>
              <a:gd name="adj" fmla="val 12000"/>
            </a:avLst>
          </a:prstGeom>
          <a:solidFill>
            <a:srgbClr val="0F182E"/>
          </a:solidFill>
          <a:ln w="1143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99248" y="2578608"/>
            <a:ext cx="73152" cy="40233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255117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F59E0B"/>
                </a:solidFill>
                <a:latin typeface="Segoe UI"/>
              </a:rPr>
              <a:t>Returned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77977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duplicate, or too thin to act 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255264"/>
            <a:ext cx="3867912" cy="658368"/>
          </a:xfrm>
          <a:prstGeom prst="roundRect">
            <a:avLst>
              <a:gd name="adj" fmla="val 12000"/>
            </a:avLst>
          </a:prstGeom>
          <a:solidFill>
            <a:srgbClr val="0F182E"/>
          </a:solidFill>
          <a:ln w="1143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99248" y="3383280"/>
            <a:ext cx="73152" cy="40233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335584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3B82F6"/>
                </a:solidFill>
                <a:latin typeface="Segoe UI"/>
              </a:rPr>
              <a:t>Escalated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58444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high risk or policy-restricted → human-only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4059936"/>
            <a:ext cx="3867912" cy="658368"/>
          </a:xfrm>
          <a:prstGeom prst="roundRect">
            <a:avLst>
              <a:gd name="adj" fmla="val 12000"/>
            </a:avLst>
          </a:prstGeom>
          <a:solidFill>
            <a:srgbClr val="0F182E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99248" y="4187952"/>
            <a:ext cx="73152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416052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34D399"/>
                </a:solidFill>
                <a:latin typeface="Segoe UI"/>
              </a:rPr>
              <a:t>Qualified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4389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scoped, evidenced, safe → handed to Devin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230368"/>
            <a:ext cx="11183112" cy="969264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B143C"/>
              </a:gs>
              <a:gs pos="100000">
                <a:srgbClr val="0E1830"/>
              </a:gs>
            </a:gsLst>
            <a:lin scaled="0" ang="0"/>
          </a:gradFill>
          <a:ln w="1143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3949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spc="140">
                <a:solidFill>
                  <a:srgbClr val="8B5CF6"/>
                </a:solidFill>
                <a:latin typeface="Segoe UI"/>
              </a:rPr>
              <a:t>WHY THIS MATTERS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9AACC8"/>
                </a:solidFill>
                <a:latin typeface="Segoe UI"/>
              </a:rPr>
              <a:t>Repeat and low-quality tickets are the largest hidden cost in service desks. Screening them at the gate protects engineering capacity, keeps automation trustworthy, and gives the business a clean signal on real demand.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446520"/>
            <a:ext cx="11183112" cy="10972"/>
          </a:xfrm>
          <a:prstGeom prst="roundRect">
            <a:avLst>
              <a:gd name="adj" fmla="val 5000"/>
            </a:avLst>
          </a:prstGeom>
          <a:solidFill>
            <a:srgbClr val="1E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Qualification · Amazon Bedrock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6510528"/>
            <a:ext cx="3456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Human in the loop at every gate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0E1C"/>
              </a:gs>
              <a:gs pos="100000">
                <a:srgbClr val="101B3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0292" cy="2743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846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spc="160">
                <a:solidFill>
                  <a:srgbClr val="2DD4BF"/>
                </a:solidFill>
                <a:latin typeface="Segoe UI"/>
              </a:rPr>
              <a:t>STAGE 3 ·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Devin executes the qualified ticket,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AACC8"/>
                </a:solidFill>
                <a:latin typeface="Segoe UI"/>
              </a:rPr>
              <a:t>Automations decide when work starts. Playbooks decide how it is done. Every run ships evidence, not just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1737360" cy="14813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0482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03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80E1C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50592"/>
            <a:ext cx="1335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724912"/>
            <a:ext cx="1335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Qualified ticket starts a session automatically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2221992" y="2103120"/>
            <a:ext cx="146304" cy="146304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45436" y="1847088"/>
            <a:ext cx="1737360" cy="14813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46604" y="20482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46604" y="2103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80E1C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6604" y="2450592"/>
            <a:ext cx="1335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Playbook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6604" y="2724912"/>
            <a:ext cx="1335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The tested procedure for that work type is applied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4064508" y="2103120"/>
            <a:ext cx="146304" cy="146304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87952" y="1847088"/>
            <a:ext cx="1737360" cy="14813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20482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03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80E1C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450592"/>
            <a:ext cx="1335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724912"/>
            <a:ext cx="1335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Code, config or IaC updated in the target repo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5907024" y="2103120"/>
            <a:ext cx="146304" cy="146304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0468" y="1847088"/>
            <a:ext cx="1737360" cy="14813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1636" y="20482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1636" y="2103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80E1C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1636" y="2450592"/>
            <a:ext cx="1335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1636" y="2724912"/>
            <a:ext cx="1335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Tests, lint and type checks run before hand-off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7749540" y="2103120"/>
            <a:ext cx="146304" cy="146304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72984" y="1847088"/>
            <a:ext cx="1737360" cy="14813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74152" y="20482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74152" y="2103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80E1C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2450592"/>
            <a:ext cx="1335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2724912"/>
            <a:ext cx="1335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Pull request with reasoning, diff and test output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9592056" y="2103120"/>
            <a:ext cx="146304" cy="146304"/>
          </a:xfrm>
          <a:prstGeom prst="triangl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15500" y="1847088"/>
            <a:ext cx="1737360" cy="14813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16668" y="20482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16668" y="21031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080E1C"/>
                </a:solidFill>
                <a:latin typeface="Segoe U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16668" y="2450592"/>
            <a:ext cx="1335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Write-back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6668" y="2724912"/>
            <a:ext cx="1335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9AACC8"/>
                </a:solidFill>
                <a:latin typeface="Segoe UI"/>
              </a:rPr>
              <a:t>Ticket updated with status and release link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611880"/>
            <a:ext cx="5486400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8221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Automations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380390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D4BF"/>
                </a:solidFill>
                <a:latin typeface="Segoe UI"/>
              </a:rPr>
              <a:t>Event-driven start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" y="4334256"/>
            <a:ext cx="64008" cy="640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" y="42611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Fires on ticket creation or a “Ready for AI” transition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8" y="4718304"/>
            <a:ext cx="64008" cy="640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" y="46451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No queue, no triage meeting, no assignment delay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8" y="5102352"/>
            <a:ext cx="64008" cy="6400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8408" y="50292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Scope and guardrails come from the ticket itself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2" y="3611880"/>
            <a:ext cx="5486400" cy="19202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38221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Playbooks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02952" y="380390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2D3EE"/>
                </a:solidFill>
                <a:latin typeface="Segoe UI"/>
              </a:rPr>
              <a:t>Repeatable method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4334256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42611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Curated, tested procedure per class of work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4718304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46451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Same steps, same checks, every single time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92240" y="5102352"/>
            <a:ext cx="64008" cy="640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50292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Improved as outcomes come back from stage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76072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Devin never releases anything on its own — stage 3 always ends at a reviewable pull request.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6446520"/>
            <a:ext cx="11183112" cy="10972"/>
          </a:xfrm>
          <a:prstGeom prst="roundRect">
            <a:avLst>
              <a:gd name="adj" fmla="val 5000"/>
            </a:avLst>
          </a:prstGeom>
          <a:solidFill>
            <a:srgbClr val="1E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Autonomous execution · Devin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6510528"/>
            <a:ext cx="3456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Human in the loop at every 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0E1C"/>
              </a:gs>
              <a:gs pos="100000">
                <a:srgbClr val="101B3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0292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846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spc="160">
                <a:solidFill>
                  <a:srgbClr val="F59E0B"/>
                </a:solidFill>
                <a:latin typeface="Segoe UI"/>
              </a:rPr>
              <a:t>STAGE 4 · 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Compliance enforced by the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AACC8"/>
                </a:solidFill>
                <a:latin typeface="Segoe UI"/>
              </a:rPr>
              <a:t>Harness runs the same governed gate on AI-authored and human-authored changes alike.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536192" cy="603504"/>
          </a:xfrm>
          <a:prstGeom prst="roundRect">
            <a:avLst>
              <a:gd name="adj" fmla="val 12000"/>
            </a:avLst>
          </a:prstGeom>
          <a:solidFill>
            <a:srgbClr val="141F3A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7691" y="1874519"/>
            <a:ext cx="1536192" cy="603504"/>
          </a:xfrm>
          <a:prstGeom prst="roundRect">
            <a:avLst>
              <a:gd name="adj" fmla="val 12000"/>
            </a:avLst>
          </a:prstGeom>
          <a:solidFill>
            <a:srgbClr val="141F3A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2463" y="1874519"/>
            <a:ext cx="1536192" cy="603504"/>
          </a:xfrm>
          <a:prstGeom prst="roundRect">
            <a:avLst>
              <a:gd name="adj" fmla="val 12000"/>
            </a:avLst>
          </a:prstGeom>
          <a:solidFill>
            <a:srgbClr val="141F3A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Dependency &amp; secrets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17236" y="1874519"/>
            <a:ext cx="1536192" cy="603504"/>
          </a:xfrm>
          <a:prstGeom prst="roundRect">
            <a:avLst>
              <a:gd name="adj" fmla="val 12000"/>
            </a:avLst>
          </a:prstGeom>
          <a:solidFill>
            <a:srgbClr val="141F3A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IaC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22007" y="1874519"/>
            <a:ext cx="1536192" cy="603504"/>
          </a:xfrm>
          <a:prstGeom prst="roundRect">
            <a:avLst>
              <a:gd name="adj" fmla="val 12000"/>
            </a:avLst>
          </a:prstGeom>
          <a:solidFill>
            <a:srgbClr val="141F3A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Compliance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26780" y="1874519"/>
            <a:ext cx="1536192" cy="603504"/>
          </a:xfrm>
          <a:prstGeom prst="roundRect">
            <a:avLst>
              <a:gd name="adj" fmla="val 12000"/>
            </a:avLst>
          </a:prstGeom>
          <a:solidFill>
            <a:srgbClr val="102A24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34D399"/>
                </a:solidFill>
                <a:latin typeface="Segoe UI"/>
              </a:rPr>
              <a:t>Human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31552" y="1874519"/>
            <a:ext cx="1536192" cy="603504"/>
          </a:xfrm>
          <a:prstGeom prst="roundRect">
            <a:avLst>
              <a:gd name="adj" fmla="val 12000"/>
            </a:avLst>
          </a:prstGeom>
          <a:solidFill>
            <a:srgbClr val="141F3A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Deploy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5486400" cy="23317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9923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What the gate enforces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" y="3520439"/>
            <a:ext cx="64008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45643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Static analysis and dependency risk on every change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" y="3849624"/>
            <a:ext cx="64008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785615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No secrets, no unreviewed IaC or policy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" y="4178808"/>
            <a:ext cx="64008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411480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Scan results attached to the change, not to a spreadsheet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" y="4507992"/>
            <a:ext cx="64008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444398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Promotion blocked until a named approver signs 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" y="4837176"/>
            <a:ext cx="64008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77316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Rollback path recorded before deploy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788920"/>
            <a:ext cx="5486400" cy="23317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02A24"/>
              </a:gs>
              <a:gs pos="100000">
                <a:srgbClr val="0E1830"/>
              </a:gs>
            </a:gsLst>
            <a:lin scaled="0" ang="16200000"/>
          </a:gra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99923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The person stays in the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34670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The approver sees the ticket, the AI reasoning, the diff and the scan results in one place — then approves, rejects, or sends it 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02336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spc="140">
                <a:solidFill>
                  <a:srgbClr val="34D399"/>
                </a:solidFill>
                <a:latin typeface="Segoe UI"/>
              </a:rPr>
              <a:t>UNBROKEN AUDIT TRAIL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4279392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34D399"/>
                </a:solidFill>
                <a:latin typeface="Segoe UI"/>
              </a:rPr>
              <a:t>Ticket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65592" y="4279392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34D399"/>
                </a:solidFill>
                <a:latin typeface="Segoe UI"/>
              </a:rPr>
              <a:t>Session 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57232" y="4279392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34D399"/>
                </a:solidFill>
                <a:latin typeface="Segoe UI"/>
              </a:rPr>
              <a:t>Pull request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4718304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34D399"/>
                </a:solidFill>
                <a:latin typeface="Segoe UI"/>
              </a:rPr>
              <a:t>Scan results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5592" y="4718304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34D399"/>
                </a:solidFill>
                <a:latin typeface="Segoe UI"/>
              </a:rPr>
              <a:t>Approval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57232" y="4718304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0F182E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1">
                <a:solidFill>
                  <a:srgbClr val="34D399"/>
                </a:solidFill>
                <a:latin typeface="Segoe UI"/>
              </a:rPr>
              <a:t>Release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349240"/>
            <a:ext cx="11183112" cy="84124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2A1C08"/>
              </a:gs>
              <a:gs pos="100000">
                <a:srgbClr val="0E1830"/>
              </a:gs>
            </a:gsLst>
            <a:lin scaled="0" ang="0"/>
          </a:gradFill>
          <a:ln w="1143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Nothing AI-authored reaches production without passing the same compliance scans and a named human approval.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6446520"/>
            <a:ext cx="11183112" cy="10972"/>
          </a:xfrm>
          <a:prstGeom prst="roundRect">
            <a:avLst>
              <a:gd name="adj" fmla="val 5000"/>
            </a:avLst>
          </a:prstGeom>
          <a:solidFill>
            <a:srgbClr val="1E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Compliance CI/CD · Harness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6510528"/>
            <a:ext cx="3456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Human in the loop at every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0E1C"/>
              </a:gs>
              <a:gs pos="100000">
                <a:srgbClr val="101B3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50292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846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spc="160">
                <a:solidFill>
                  <a:srgbClr val="34D399"/>
                </a:solidFill>
                <a:latin typeface="Segoe UI"/>
              </a:rPr>
              <a:t>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Capacity back, risk down, evidence by 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9AACC8"/>
                </a:solidFill>
                <a:latin typeface="Segoe UI"/>
              </a:rPr>
              <a:t>What changes when qualification, execution and compliance are automated around the same ticket.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697480" cy="15544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69748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031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Ticket deflection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15184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9AACC8"/>
                </a:solidFill>
                <a:latin typeface="Segoe UI"/>
              </a:rPr>
              <a:t>Repeats resolved by linkage instead of new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632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8B5CF6"/>
                </a:solidFill>
                <a:latin typeface="Segoe UI"/>
              </a:rPr>
              <a:t>measured per stage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5556" y="1828800"/>
            <a:ext cx="2697480" cy="15544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5556" y="1828800"/>
            <a:ext cx="269748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1588" y="21031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Cycle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1588" y="2615184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9AACC8"/>
                </a:solidFill>
                <a:latin typeface="Segoe UI"/>
              </a:rPr>
              <a:t>Qualified ticket → approved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1588" y="30632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2DD4BF"/>
                </a:solidFill>
                <a:latin typeface="Segoe UI"/>
              </a:rPr>
              <a:t>measured per stage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1828800"/>
            <a:ext cx="2697480" cy="15544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828800"/>
            <a:ext cx="269748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1031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Autonomous fix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615184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9AACC8"/>
                </a:solidFill>
                <a:latin typeface="Segoe UI"/>
              </a:rPr>
              <a:t>Share of tickets resolved without hands-on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0632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22D3EE"/>
                </a:solidFill>
                <a:latin typeface="Segoe UI"/>
              </a:rPr>
              <a:t>measured per stage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0828" y="1828800"/>
            <a:ext cx="2697480" cy="15544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9525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0828" y="1828800"/>
            <a:ext cx="269748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6860" y="2103120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Gate pass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6860" y="2615184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9AACC8"/>
                </a:solidFill>
                <a:latin typeface="Segoe UI"/>
              </a:rPr>
              <a:t>AI changes clearing compliance on first submission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6860" y="30632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measured per stage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11880"/>
            <a:ext cx="5486400" cy="2148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41F3A"/>
              </a:gs>
              <a:gs pos="100000">
                <a:srgbClr val="0F182E"/>
              </a:gs>
            </a:gsLst>
            <a:lin scaled="0" ang="16200000"/>
          </a:gradFill>
          <a:ln w="10160">
            <a:solidFill>
              <a:srgbClr val="24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9AACC8"/>
                </a:solidFill>
                <a:latin typeface="Segoe UI"/>
              </a:rPr>
              <a:t>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2611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B6B88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426110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Repeat tickets re-investigated from scratch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268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B6B88"/>
                </a:solidFill>
                <a:latin typeface="Segoe U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62686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Thin tickets bounce between queues for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9926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B6B88"/>
                </a:solidFill>
                <a:latin typeface="Segoe UI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499262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Compliance evidence assembled by hand, 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583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B6B88"/>
                </a:solidFill>
                <a:latin typeface="Segoe UI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535838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Fix quality depends on who picked up the ticket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611880"/>
            <a:ext cx="5486400" cy="214884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02A24"/>
              </a:gs>
              <a:gs pos="100000">
                <a:srgbClr val="0E1830"/>
              </a:gs>
            </a:gsLst>
            <a:lin scaled="0" ang="16200000"/>
          </a:gradFill>
          <a:ln w="1016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38221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With this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2611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26110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Repeats linked and closed at intake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6268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62686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Tickets qualified before capacity is spent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49926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99262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Scans and approvals captured on every change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53583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358384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AACC8"/>
                </a:solidFill>
                <a:latin typeface="Segoe UI"/>
              </a:rPr>
              <a:t>Playbooks make the best method the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961888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Next step: pick two ticket classes, run the pipeline end to end, and publish the four metrics above.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6446520"/>
            <a:ext cx="11183112" cy="10972"/>
          </a:xfrm>
          <a:prstGeom prst="roundRect">
            <a:avLst>
              <a:gd name="adj" fmla="val 5000"/>
            </a:avLst>
          </a:prstGeom>
          <a:solidFill>
            <a:srgbClr val="1E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Value and next step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6510528"/>
            <a:ext cx="3456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B7C99"/>
                </a:solidFill>
                <a:latin typeface="Segoe UI"/>
              </a:rPr>
              <a:t>Human in the loop at every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